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595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DU PRÉSENTATEUR — SLIDE 1 : PAGE DE TITRE</a:t>
            </a:r>
          </a:p>
          <a:p>
            <a:endParaRPr/>
          </a:p>
          <a:p>
            <a:r>
              <a:t>Bonjour à tous et merci de votre présence.</a:t>
            </a:r>
          </a:p>
          <a:p>
            <a:endParaRPr/>
          </a:p>
          <a:p>
            <a:r>
              <a:t>Aujourd'hui, je vais vous présenter l'application PDF SWIFT Extractor, un outil développé en interne pour automatiser l'extraction des données contenues dans les PDF de messages SWIFT.</a:t>
            </a:r>
          </a:p>
          <a:p>
            <a:endParaRPr/>
          </a:p>
          <a:p>
            <a:r>
              <a:t>Cette présentation durera environ 10 minutes. Je vais commencer par expliquer le problème que cet outil résout, puis montrer comment il fonctionne, avec une démonstration en direct.</a:t>
            </a:r>
          </a:p>
          <a:p>
            <a:endParaRPr/>
          </a:p>
          <a:p>
            <a:r>
              <a:t>[Passer au slide suivant]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NOTES DU PRÉSENTATEUR — SLIDE 2 : SOMMAIRE</a:t>
            </a:r>
          </a:p>
          <a:p>
            <a:endParaRPr dirty="0"/>
          </a:p>
          <a:p>
            <a:r>
              <a:rPr dirty="0" err="1"/>
              <a:t>Voici</a:t>
            </a:r>
            <a:r>
              <a:rPr dirty="0"/>
              <a:t> le plan de la </a:t>
            </a:r>
            <a:r>
              <a:rPr dirty="0" err="1"/>
              <a:t>présentation</a:t>
            </a:r>
            <a:r>
              <a:rPr dirty="0"/>
              <a:t> :</a:t>
            </a:r>
          </a:p>
          <a:p>
            <a:endParaRPr dirty="0"/>
          </a:p>
          <a:p>
            <a:r>
              <a:rPr dirty="0"/>
              <a:t>Nous </a:t>
            </a:r>
            <a:r>
              <a:rPr dirty="0" err="1"/>
              <a:t>allons</a:t>
            </a:r>
            <a:r>
              <a:rPr dirty="0"/>
              <a:t> </a:t>
            </a:r>
            <a:r>
              <a:rPr dirty="0" err="1"/>
              <a:t>d'abord</a:t>
            </a:r>
            <a:r>
              <a:rPr dirty="0"/>
              <a:t> </a:t>
            </a:r>
            <a:r>
              <a:rPr dirty="0" err="1"/>
              <a:t>comprendre</a:t>
            </a:r>
            <a:r>
              <a:rPr dirty="0"/>
              <a:t> le PROBLÈME que </a:t>
            </a:r>
            <a:r>
              <a:rPr dirty="0" err="1"/>
              <a:t>cet</a:t>
            </a:r>
            <a:r>
              <a:rPr dirty="0"/>
              <a:t> </a:t>
            </a:r>
            <a:r>
              <a:rPr dirty="0" err="1"/>
              <a:t>outil</a:t>
            </a:r>
            <a:r>
              <a:rPr dirty="0"/>
              <a:t> </a:t>
            </a:r>
            <a:r>
              <a:rPr dirty="0" err="1"/>
              <a:t>résout</a:t>
            </a:r>
            <a:r>
              <a:rPr dirty="0"/>
              <a:t> — </a:t>
            </a:r>
            <a:r>
              <a:rPr dirty="0" err="1"/>
              <a:t>pourquoi</a:t>
            </a:r>
            <a:r>
              <a:rPr dirty="0"/>
              <a:t> on </a:t>
            </a:r>
            <a:r>
              <a:rPr dirty="0" err="1"/>
              <a:t>en</a:t>
            </a:r>
            <a:r>
              <a:rPr dirty="0"/>
              <a:t> a </a:t>
            </a:r>
            <a:r>
              <a:rPr dirty="0" err="1"/>
              <a:t>eu</a:t>
            </a:r>
            <a:r>
              <a:rPr dirty="0"/>
              <a:t> </a:t>
            </a:r>
            <a:r>
              <a:rPr dirty="0" err="1"/>
              <a:t>besoin</a:t>
            </a:r>
            <a:r>
              <a:rPr dirty="0"/>
              <a:t>.</a:t>
            </a:r>
          </a:p>
          <a:p>
            <a:r>
              <a:rPr dirty="0" err="1"/>
              <a:t>Ensuite</a:t>
            </a:r>
            <a:r>
              <a:rPr dirty="0"/>
              <a:t>, je </a:t>
            </a:r>
            <a:r>
              <a:rPr dirty="0" err="1"/>
              <a:t>vous</a:t>
            </a:r>
            <a:r>
              <a:rPr dirty="0"/>
              <a:t> </a:t>
            </a:r>
            <a:r>
              <a:rPr dirty="0" err="1"/>
              <a:t>montrerai</a:t>
            </a:r>
            <a:r>
              <a:rPr dirty="0"/>
              <a:t> CE QUE FAIT </a:t>
            </a:r>
            <a:r>
              <a:rPr dirty="0" err="1"/>
              <a:t>l'application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3 </a:t>
            </a:r>
            <a:r>
              <a:rPr dirty="0" err="1"/>
              <a:t>étapes</a:t>
            </a:r>
            <a:r>
              <a:rPr dirty="0"/>
              <a:t> </a:t>
            </a:r>
            <a:r>
              <a:rPr dirty="0" err="1"/>
              <a:t>très</a:t>
            </a:r>
            <a:r>
              <a:rPr dirty="0"/>
              <a:t> simples.</a:t>
            </a:r>
          </a:p>
          <a:p>
            <a:r>
              <a:rPr dirty="0"/>
              <a:t>La </a:t>
            </a:r>
            <a:r>
              <a:rPr dirty="0" err="1"/>
              <a:t>partie</a:t>
            </a:r>
            <a:r>
              <a:rPr dirty="0"/>
              <a:t> </a:t>
            </a:r>
            <a:r>
              <a:rPr dirty="0" err="1"/>
              <a:t>principale</a:t>
            </a:r>
            <a:r>
              <a:rPr dirty="0"/>
              <a:t> sera la DÉMONSTRATION EN DIRECT, pour que </a:t>
            </a:r>
            <a:r>
              <a:rPr dirty="0" err="1"/>
              <a:t>vous</a:t>
            </a:r>
            <a:r>
              <a:rPr dirty="0"/>
              <a:t> </a:t>
            </a:r>
            <a:r>
              <a:rPr dirty="0" err="1"/>
              <a:t>voyiez</a:t>
            </a:r>
            <a:r>
              <a:rPr dirty="0"/>
              <a:t> </a:t>
            </a:r>
            <a:r>
              <a:rPr dirty="0" err="1"/>
              <a:t>concrètement</a:t>
            </a:r>
            <a:r>
              <a:rPr dirty="0"/>
              <a:t> </a:t>
            </a:r>
            <a:r>
              <a:rPr dirty="0" err="1"/>
              <a:t>l'outil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action.</a:t>
            </a:r>
          </a:p>
          <a:p>
            <a:r>
              <a:rPr dirty="0"/>
              <a:t>Je </a:t>
            </a:r>
            <a:r>
              <a:rPr dirty="0" err="1"/>
              <a:t>vous</a:t>
            </a:r>
            <a:r>
              <a:rPr dirty="0"/>
              <a:t> </a:t>
            </a:r>
            <a:r>
              <a:rPr dirty="0" err="1"/>
              <a:t>présenterai</a:t>
            </a:r>
            <a:r>
              <a:rPr dirty="0"/>
              <a:t> </a:t>
            </a:r>
            <a:r>
              <a:rPr dirty="0" err="1"/>
              <a:t>rapidement</a:t>
            </a:r>
            <a:r>
              <a:rPr dirty="0"/>
              <a:t> les 3 MODES </a:t>
            </a:r>
            <a:r>
              <a:rPr dirty="0" err="1"/>
              <a:t>disponibles</a:t>
            </a:r>
            <a:r>
              <a:rPr dirty="0"/>
              <a:t>.</a:t>
            </a:r>
          </a:p>
          <a:p>
            <a:r>
              <a:rPr dirty="0"/>
              <a:t>Et on </a:t>
            </a:r>
            <a:r>
              <a:rPr dirty="0" err="1"/>
              <a:t>terminera</a:t>
            </a:r>
            <a:r>
              <a:rPr dirty="0"/>
              <a:t> sur les BÉNÉFICES CONCRETS pour </a:t>
            </a:r>
            <a:r>
              <a:rPr dirty="0" err="1"/>
              <a:t>votre</a:t>
            </a:r>
            <a:r>
              <a:rPr dirty="0"/>
              <a:t> travail au </a:t>
            </a:r>
            <a:r>
              <a:rPr dirty="0" err="1"/>
              <a:t>quotidien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Au total : environ 10 minutes.</a:t>
            </a:r>
          </a:p>
          <a:p>
            <a:endParaRPr dirty="0"/>
          </a:p>
          <a:p>
            <a:r>
              <a:rPr dirty="0"/>
              <a:t>[Passer au slide </a:t>
            </a:r>
            <a:r>
              <a:rPr dirty="0" err="1"/>
              <a:t>suivant</a:t>
            </a:r>
            <a:r>
              <a:rPr dirty="0"/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DU PRÉSENTATEUR — SLIDE 3 : TRANSITION SECTION 1</a:t>
            </a:r>
          </a:p>
          <a:p>
            <a:endParaRPr/>
          </a:p>
          <a:p>
            <a:r>
              <a:t>[Slide de transition — ne pas s'attarder]</a:t>
            </a:r>
          </a:p>
          <a:p>
            <a:endParaRPr/>
          </a:p>
          <a:p>
            <a:r>
              <a:t>Commençons par comprendre le problème initial.</a:t>
            </a:r>
          </a:p>
          <a:p>
            <a:endParaRPr/>
          </a:p>
          <a:p>
            <a:r>
              <a:t>[Passer directement au slide suivant]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DU PRÉSENTATEUR — SLIDE 4 : LE PROBLÈME EN DÉTAIL</a:t>
            </a:r>
          </a:p>
          <a:p>
            <a:endParaRPr/>
          </a:p>
          <a:p>
            <a:r>
              <a:t>Avant cette application, voici comment ça se passait :</a:t>
            </a:r>
          </a:p>
          <a:p>
            <a:endParaRPr/>
          </a:p>
          <a:p>
            <a:r>
              <a:t>TEMPS CONSIDÉRABLE :</a:t>
            </a:r>
          </a:p>
          <a:p>
            <a:r>
              <a:t>Chaque mois, vous receviez des dizaines de fichiers PDF contenant des messages SWIFT — MT103, MT202, MT910…</a:t>
            </a:r>
          </a:p>
          <a:p>
            <a:r>
              <a:t>Pour chaque PDF, il fallait ouvrir le fichier, lire les données, et les recopier manuellement dans un tableur Excel.</a:t>
            </a:r>
          </a:p>
          <a:p>
            <a:r>
              <a:t>Un seul fichier pouvait prendre 5 à 30 minutes selon le nombre de messages.</a:t>
            </a:r>
          </a:p>
          <a:p>
            <a:endParaRPr/>
          </a:p>
          <a:p>
            <a:r>
              <a:t>RISQUE D'ERREURS :</a:t>
            </a:r>
          </a:p>
          <a:p>
            <a:r>
              <a:t>Le copier-coller depuis un PDF est une source majeure d'erreurs.</a:t>
            </a:r>
          </a:p>
          <a:p>
            <a:r>
              <a:t>Une inversion de chiffre dans un montant, un code BIC mal recopié… et c'est une anomalie dans le rapprochement.</a:t>
            </a:r>
          </a:p>
          <a:p>
            <a:r>
              <a:t>Ces erreurs sont d'autant plus difficiles à détecter qu'elles ne sont pas flagrantes.</a:t>
            </a:r>
          </a:p>
          <a:p>
            <a:endParaRPr/>
          </a:p>
          <a:p>
            <a:r>
              <a:t>TRAVAIL SANS VALEUR AJOUTÉE :</a:t>
            </a:r>
          </a:p>
          <a:p>
            <a:r>
              <a:t>Ce temps passé à de la saisie, c'est du temps qui n'est pas consacré à l'analyse, au contrôle, ou au suivi des opérations.</a:t>
            </a:r>
          </a:p>
          <a:p>
            <a:endParaRPr/>
          </a:p>
          <a:p>
            <a:r>
              <a:t>C'est exactement ce problème que l'application résout.</a:t>
            </a:r>
          </a:p>
          <a:p>
            <a:endParaRPr/>
          </a:p>
          <a:p>
            <a:r>
              <a:t>[Passer au slide suivant]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NOTES DU PRÉSENTATEUR — SLIDE 5 : LE FLUX EN 3 ÉTAPES</a:t>
            </a:r>
          </a:p>
          <a:p>
            <a:endParaRPr dirty="0"/>
          </a:p>
          <a:p>
            <a:r>
              <a:rPr dirty="0" err="1"/>
              <a:t>L'application</a:t>
            </a:r>
            <a:r>
              <a:rPr dirty="0"/>
              <a:t> </a:t>
            </a:r>
            <a:r>
              <a:rPr dirty="0" err="1"/>
              <a:t>fonctionne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3 </a:t>
            </a:r>
            <a:r>
              <a:rPr dirty="0" err="1"/>
              <a:t>étapes</a:t>
            </a:r>
            <a:r>
              <a:rPr dirty="0"/>
              <a:t> </a:t>
            </a:r>
            <a:r>
              <a:rPr dirty="0" err="1"/>
              <a:t>très</a:t>
            </a:r>
            <a:r>
              <a:rPr dirty="0"/>
              <a:t> simples :</a:t>
            </a:r>
          </a:p>
          <a:p>
            <a:endParaRPr dirty="0"/>
          </a:p>
          <a:p>
            <a:r>
              <a:rPr dirty="0"/>
              <a:t>ÉTAPE 1 — DÉPOSER VOS PDF :</a:t>
            </a:r>
          </a:p>
          <a:p>
            <a:r>
              <a:rPr dirty="0" err="1"/>
              <a:t>Vous</a:t>
            </a:r>
            <a:r>
              <a:rPr dirty="0"/>
              <a:t> </a:t>
            </a:r>
            <a:r>
              <a:rPr dirty="0" err="1"/>
              <a:t>ouvrez</a:t>
            </a:r>
            <a:r>
              <a:rPr dirty="0"/>
              <a:t> </a:t>
            </a:r>
            <a:r>
              <a:rPr dirty="0" err="1"/>
              <a:t>l'application</a:t>
            </a:r>
            <a:r>
              <a:rPr dirty="0"/>
              <a:t> </a:t>
            </a:r>
            <a:r>
              <a:rPr dirty="0" err="1"/>
              <a:t>dans</a:t>
            </a:r>
            <a:r>
              <a:rPr dirty="0"/>
              <a:t> </a:t>
            </a:r>
            <a:r>
              <a:rPr dirty="0" err="1"/>
              <a:t>votre</a:t>
            </a:r>
            <a:r>
              <a:rPr dirty="0"/>
              <a:t> </a:t>
            </a:r>
            <a:r>
              <a:rPr dirty="0" err="1"/>
              <a:t>navigateur</a:t>
            </a:r>
            <a:r>
              <a:rPr dirty="0"/>
              <a:t>. </a:t>
            </a:r>
            <a:r>
              <a:rPr dirty="0" err="1"/>
              <a:t>Vous</a:t>
            </a:r>
            <a:r>
              <a:rPr dirty="0"/>
              <a:t> </a:t>
            </a:r>
            <a:r>
              <a:rPr dirty="0" err="1"/>
              <a:t>glissez-déposez</a:t>
            </a:r>
            <a:r>
              <a:rPr dirty="0"/>
              <a:t> </a:t>
            </a:r>
            <a:r>
              <a:rPr dirty="0" err="1"/>
              <a:t>directement</a:t>
            </a:r>
            <a:r>
              <a:rPr dirty="0"/>
              <a:t> </a:t>
            </a:r>
            <a:r>
              <a:rPr dirty="0" err="1"/>
              <a:t>vos</a:t>
            </a:r>
            <a:r>
              <a:rPr dirty="0"/>
              <a:t> </a:t>
            </a:r>
            <a:r>
              <a:rPr dirty="0" err="1"/>
              <a:t>fichiers</a:t>
            </a:r>
            <a:r>
              <a:rPr dirty="0"/>
              <a:t> PDF — un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plusieurs</a:t>
            </a:r>
            <a:r>
              <a:rPr dirty="0"/>
              <a:t> à la </a:t>
            </a:r>
            <a:r>
              <a:rPr dirty="0" err="1"/>
              <a:t>fois</a:t>
            </a:r>
            <a:r>
              <a:rPr dirty="0"/>
              <a:t>. Pas </a:t>
            </a:r>
            <a:r>
              <a:rPr dirty="0" err="1"/>
              <a:t>besoin</a:t>
            </a:r>
            <a:r>
              <a:rPr dirty="0"/>
              <a:t> de les </a:t>
            </a:r>
            <a:r>
              <a:rPr dirty="0" err="1"/>
              <a:t>renommer</a:t>
            </a:r>
            <a:r>
              <a:rPr dirty="0"/>
              <a:t>, de les </a:t>
            </a:r>
            <a:r>
              <a:rPr dirty="0" err="1"/>
              <a:t>convertir</a:t>
            </a:r>
            <a:r>
              <a:rPr dirty="0"/>
              <a:t>, </a:t>
            </a:r>
            <a:r>
              <a:rPr dirty="0" err="1"/>
              <a:t>rien</a:t>
            </a:r>
            <a:r>
              <a:rPr dirty="0"/>
              <a:t> de tout </a:t>
            </a:r>
            <a:r>
              <a:rPr dirty="0" err="1"/>
              <a:t>ça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ÉTAPE 2 — EXTRACTION AUTOMATIQUE :</a:t>
            </a:r>
          </a:p>
          <a:p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clic</a:t>
            </a:r>
            <a:r>
              <a:rPr dirty="0"/>
              <a:t> sur « </a:t>
            </a:r>
            <a:r>
              <a:rPr dirty="0" err="1"/>
              <a:t>Extraire</a:t>
            </a:r>
            <a:r>
              <a:rPr dirty="0"/>
              <a:t> », </a:t>
            </a:r>
            <a:r>
              <a:rPr dirty="0" err="1"/>
              <a:t>l'application</a:t>
            </a:r>
            <a:r>
              <a:rPr dirty="0"/>
              <a:t> lit </a:t>
            </a:r>
            <a:r>
              <a:rPr dirty="0" err="1"/>
              <a:t>chaque</a:t>
            </a:r>
            <a:r>
              <a:rPr dirty="0"/>
              <a:t> PDF, </a:t>
            </a:r>
            <a:r>
              <a:rPr dirty="0" err="1"/>
              <a:t>identifie</a:t>
            </a:r>
            <a:r>
              <a:rPr dirty="0"/>
              <a:t> les types de messages — MT103 pour les </a:t>
            </a:r>
            <a:r>
              <a:rPr dirty="0" err="1"/>
              <a:t>virements</a:t>
            </a:r>
            <a:r>
              <a:rPr dirty="0"/>
              <a:t> clients, MT202 pour les </a:t>
            </a:r>
            <a:r>
              <a:rPr dirty="0" err="1"/>
              <a:t>interbancaires</a:t>
            </a:r>
            <a:r>
              <a:rPr dirty="0"/>
              <a:t>, MT910 pour les confirmations de </a:t>
            </a:r>
            <a:r>
              <a:rPr dirty="0" err="1"/>
              <a:t>crédit</a:t>
            </a:r>
            <a:r>
              <a:rPr dirty="0"/>
              <a:t> — et </a:t>
            </a:r>
            <a:r>
              <a:rPr dirty="0" err="1"/>
              <a:t>extrait</a:t>
            </a:r>
            <a:r>
              <a:rPr dirty="0"/>
              <a:t> </a:t>
            </a:r>
            <a:r>
              <a:rPr dirty="0" err="1"/>
              <a:t>toutes</a:t>
            </a:r>
            <a:r>
              <a:rPr dirty="0"/>
              <a:t> les </a:t>
            </a:r>
            <a:r>
              <a:rPr dirty="0" err="1"/>
              <a:t>données</a:t>
            </a:r>
            <a:r>
              <a:rPr dirty="0"/>
              <a:t> </a:t>
            </a:r>
            <a:r>
              <a:rPr dirty="0" err="1"/>
              <a:t>utiles</a:t>
            </a:r>
            <a:r>
              <a:rPr dirty="0"/>
              <a:t> : </a:t>
            </a:r>
            <a:r>
              <a:rPr dirty="0" err="1"/>
              <a:t>références</a:t>
            </a:r>
            <a:r>
              <a:rPr dirty="0"/>
              <a:t>, </a:t>
            </a:r>
            <a:r>
              <a:rPr dirty="0" err="1"/>
              <a:t>montants</a:t>
            </a:r>
            <a:r>
              <a:rPr dirty="0"/>
              <a:t>, devises, </a:t>
            </a:r>
            <a:r>
              <a:rPr dirty="0" err="1"/>
              <a:t>noms</a:t>
            </a:r>
            <a:r>
              <a:rPr dirty="0"/>
              <a:t> de </a:t>
            </a:r>
            <a:r>
              <a:rPr dirty="0" err="1"/>
              <a:t>banques</a:t>
            </a:r>
            <a:r>
              <a:rPr dirty="0"/>
              <a:t>, codes BIC.</a:t>
            </a:r>
          </a:p>
          <a:p>
            <a:endParaRPr dirty="0"/>
          </a:p>
          <a:p>
            <a:r>
              <a:rPr dirty="0"/>
              <a:t>ÉTAPE 3 — RÉSULTAT EXCEL :</a:t>
            </a:r>
          </a:p>
          <a:p>
            <a:r>
              <a:rPr dirty="0" err="1"/>
              <a:t>Vous</a:t>
            </a:r>
            <a:r>
              <a:rPr dirty="0"/>
              <a:t> </a:t>
            </a:r>
            <a:r>
              <a:rPr dirty="0" err="1"/>
              <a:t>obtenez</a:t>
            </a:r>
            <a:r>
              <a:rPr dirty="0"/>
              <a:t> un </a:t>
            </a:r>
            <a:r>
              <a:rPr dirty="0" err="1"/>
              <a:t>fichier</a:t>
            </a:r>
            <a:r>
              <a:rPr dirty="0"/>
              <a:t> Excel prêt à </a:t>
            </a:r>
            <a:r>
              <a:rPr dirty="0" err="1"/>
              <a:t>l'emploi</a:t>
            </a:r>
            <a:r>
              <a:rPr dirty="0"/>
              <a:t>. Il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organisé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plusieurs</a:t>
            </a:r>
            <a:r>
              <a:rPr dirty="0"/>
              <a:t> </a:t>
            </a:r>
            <a:r>
              <a:rPr dirty="0" err="1"/>
              <a:t>feuilles</a:t>
            </a:r>
            <a:r>
              <a:rPr dirty="0"/>
              <a:t> —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vue</a:t>
            </a:r>
            <a:r>
              <a:rPr dirty="0"/>
              <a:t> </a:t>
            </a:r>
            <a:r>
              <a:rPr dirty="0" err="1"/>
              <a:t>d'ensemble</a:t>
            </a:r>
            <a:r>
              <a:rPr dirty="0"/>
              <a:t>, </a:t>
            </a:r>
            <a:r>
              <a:rPr dirty="0" err="1"/>
              <a:t>puis</a:t>
            </a:r>
            <a:r>
              <a:rPr dirty="0"/>
              <a:t> un </a:t>
            </a:r>
            <a:r>
              <a:rPr dirty="0" err="1"/>
              <a:t>classement</a:t>
            </a:r>
            <a:r>
              <a:rPr dirty="0"/>
              <a:t> par pays. Il </a:t>
            </a:r>
            <a:r>
              <a:rPr dirty="0" err="1"/>
              <a:t>suffit</a:t>
            </a:r>
            <a:r>
              <a:rPr dirty="0"/>
              <a:t> de le </a:t>
            </a:r>
            <a:r>
              <a:rPr dirty="0" err="1"/>
              <a:t>télécharger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1 </a:t>
            </a:r>
            <a:r>
              <a:rPr dirty="0" err="1"/>
              <a:t>clic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Le tout </a:t>
            </a:r>
            <a:r>
              <a:rPr dirty="0" err="1"/>
              <a:t>prend</a:t>
            </a:r>
            <a:r>
              <a:rPr dirty="0"/>
              <a:t> </a:t>
            </a:r>
            <a:r>
              <a:rPr dirty="0" err="1"/>
              <a:t>quelques</a:t>
            </a:r>
            <a:r>
              <a:rPr dirty="0"/>
              <a:t> </a:t>
            </a:r>
            <a:r>
              <a:rPr dirty="0" err="1"/>
              <a:t>secondes</a:t>
            </a:r>
            <a:r>
              <a:rPr dirty="0"/>
              <a:t>, </a:t>
            </a:r>
            <a:r>
              <a:rPr dirty="0" err="1"/>
              <a:t>même</a:t>
            </a:r>
            <a:r>
              <a:rPr dirty="0"/>
              <a:t> pour des </a:t>
            </a:r>
            <a:r>
              <a:rPr dirty="0" err="1"/>
              <a:t>fichiers</a:t>
            </a:r>
            <a:r>
              <a:rPr dirty="0"/>
              <a:t> de </a:t>
            </a:r>
            <a:r>
              <a:rPr dirty="0" err="1"/>
              <a:t>plusieurs</a:t>
            </a:r>
            <a:r>
              <a:rPr dirty="0"/>
              <a:t> </a:t>
            </a:r>
            <a:r>
              <a:rPr dirty="0" err="1"/>
              <a:t>centaines</a:t>
            </a:r>
            <a:r>
              <a:rPr dirty="0"/>
              <a:t> de pages.</a:t>
            </a:r>
          </a:p>
          <a:p>
            <a:endParaRPr dirty="0"/>
          </a:p>
          <a:p>
            <a:r>
              <a:rPr dirty="0"/>
              <a:t>[Passer au slide </a:t>
            </a:r>
            <a:r>
              <a:rPr dirty="0" err="1"/>
              <a:t>suivant</a:t>
            </a:r>
            <a:r>
              <a:rPr dirty="0"/>
              <a:t> — </a:t>
            </a:r>
            <a:r>
              <a:rPr dirty="0" err="1"/>
              <a:t>Démonstration</a:t>
            </a:r>
            <a:r>
              <a:rPr dirty="0"/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DU PRÉSENTATEUR — SLIDE 6 : TRANSITION VERS LA DÉMO</a:t>
            </a:r>
          </a:p>
          <a:p>
            <a:endParaRPr/>
          </a:p>
          <a:p>
            <a:r>
              <a:t>[IMPORTANT — Préparer la démo AVANT la réunion]</a:t>
            </a:r>
          </a:p>
          <a:p>
            <a:endParaRPr/>
          </a:p>
          <a:p>
            <a:r>
              <a:t>Vérifiez que :</a:t>
            </a:r>
          </a:p>
          <a:p>
            <a:r>
              <a:t>✅ L'application est lancée et accessible sur http://localhost:8501</a:t>
            </a:r>
          </a:p>
          <a:p>
            <a:r>
              <a:t>✅ Vous avez 1 ou 2 PDF SWIFT réels prêts dans un dossier facile d'accès</a:t>
            </a:r>
          </a:p>
          <a:p>
            <a:r>
              <a:t>✅ Le navigateur est ouvert sur la page de l'application</a:t>
            </a:r>
          </a:p>
          <a:p>
            <a:endParaRPr/>
          </a:p>
          <a:p>
            <a:r>
              <a:t>Dites :</a:t>
            </a:r>
          </a:p>
          <a:p>
            <a:r>
              <a:t>« Passons maintenant à la démonstration. Je vais basculer vers mon navigateur pour vous montrer l'outil en action. »</a:t>
            </a:r>
          </a:p>
          <a:p>
            <a:endParaRPr/>
          </a:p>
          <a:p>
            <a:r>
              <a:t>[Basculer vers le navigateur — Alt+Tab]</a:t>
            </a:r>
          </a:p>
          <a:p>
            <a:endParaRPr/>
          </a:p>
          <a:p>
            <a:r>
              <a:t>Pendant la démo, montrez dans cet ordre :</a:t>
            </a:r>
          </a:p>
          <a:p>
            <a:endParaRPr/>
          </a:p>
          <a:p>
            <a:r>
              <a:t>1. L'INTERFACE — Pointez la sidebar à gauche (statut BIC, formulaire) et la zone principale</a:t>
            </a:r>
          </a:p>
          <a:p>
            <a:r>
              <a:t>2. LE SÉLECTEUR DE MODE — Montrez les 3 boutons radio (Entrants / Sortants / Analyse)</a:t>
            </a:r>
          </a:p>
          <a:p>
            <a:r>
              <a:t>3. L'UPLOAD — Glissez-déposez un fichier PDF réel</a:t>
            </a:r>
          </a:p>
          <a:p>
            <a:r>
              <a:t>4. L'EXTRACTION — Cliquez sur « Extraire les données ». Montrez la barre de progression.</a:t>
            </a:r>
          </a:p>
          <a:p>
            <a:r>
              <a:t>5. LES RÉSULTATS — Le tableau qui s'affiche avec toutes les données extraites</a:t>
            </a:r>
          </a:p>
          <a:p>
            <a:r>
              <a:t>6. LE TÉLÉCHARGEMENT — Cliquez sur le bouton de téléchargement Excel</a:t>
            </a:r>
          </a:p>
          <a:p>
            <a:r>
              <a:t>7. LE FICHIER EXCEL — Ouvrez-le brièvement pour montrer les feuilles (summary, par pays…)</a:t>
            </a:r>
          </a:p>
          <a:p>
            <a:endParaRPr/>
          </a:p>
          <a:p>
            <a:r>
              <a:t>Conseils :</a:t>
            </a:r>
          </a:p>
          <a:p>
            <a:r>
              <a:t>- Parlez pendant que l'extraction tourne (« L'application identifie les messages, extrait les références, résout les codes BIC… »)</a:t>
            </a:r>
          </a:p>
          <a:p>
            <a:r>
              <a:t>- Si un code BIC n'est pas trouvé, montrez comment l'ajouter via le formulaire dans la sidebar</a:t>
            </a:r>
          </a:p>
          <a:p>
            <a:r>
              <a:t>- Gardez un ton naturel, ne lisez pas un script</a:t>
            </a:r>
          </a:p>
          <a:p>
            <a:endParaRPr/>
          </a:p>
          <a:p>
            <a:r>
              <a:t>[Après la démo, revenir à PowerPoint — slide suivant]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DU PRÉSENTATEUR — SLIDE 7 : RÉCAPITULATIF DE LA DÉMO</a:t>
            </a:r>
          </a:p>
          <a:p>
            <a:endParaRPr/>
          </a:p>
          <a:p>
            <a:r>
              <a:t>[Après être revenu de la démo navigateur]</a:t>
            </a:r>
          </a:p>
          <a:p>
            <a:endParaRPr/>
          </a:p>
          <a:p>
            <a:r>
              <a:t>Ce que vous venez de voir en quelques mots :</a:t>
            </a:r>
          </a:p>
          <a:p>
            <a:endParaRPr/>
          </a:p>
          <a:p>
            <a:r>
              <a:t>INTERFACE SIMPLE :</a:t>
            </a:r>
          </a:p>
          <a:p>
            <a:r>
              <a:t>L'interface se compose de deux zones — la sidebar à gauche pour les paramètres, et la zone principale pour les résultats. Pas besoin de formation, c'est intuitif.</a:t>
            </a:r>
          </a:p>
          <a:p>
            <a:endParaRPr/>
          </a:p>
          <a:p>
            <a:r>
              <a:t>MULTI-FICHIERS :</a:t>
            </a:r>
          </a:p>
          <a:p>
            <a:r>
              <a:t>On peut déposer plusieurs PDF d'un coup. L'application les traite tous, un par un, avec une barre de progression.</a:t>
            </a:r>
          </a:p>
          <a:p>
            <a:endParaRPr/>
          </a:p>
          <a:p>
            <a:r>
              <a:t>IDENTIFICATION AUTOMATIQUE :</a:t>
            </a:r>
          </a:p>
          <a:p>
            <a:r>
              <a:t>Vous n'avez pas besoin de dire à l'application quel type de message est dans le PDF. Elle le détecte automatiquement — MT103, MT202, MT910 ou MT900.</a:t>
            </a:r>
          </a:p>
          <a:p>
            <a:endParaRPr/>
          </a:p>
          <a:p>
            <a:r>
              <a:t>RÉSOLUTION BIC :</a:t>
            </a:r>
          </a:p>
          <a:p>
            <a:r>
              <a:t>Les codes BIC — ces séries de lettres comme BEACCMCX — sont automatiquement traduits en noms de banques lisibles. Et si un code n'est pas dans le référentiel, on peut l'ajouter directement depuis l'interface.</a:t>
            </a:r>
          </a:p>
          <a:p>
            <a:endParaRPr/>
          </a:p>
          <a:p>
            <a:r>
              <a:t>EXCEL MULTI-FEUILLES :</a:t>
            </a:r>
          </a:p>
          <a:p>
            <a:r>
              <a:t>Le fichier de sortie est organisé : une vue d'ensemble, puis des feuilles par pays — Cameroun, Gabon, Tchad, Congo, etc.</a:t>
            </a:r>
          </a:p>
          <a:p>
            <a:endParaRPr/>
          </a:p>
          <a:p>
            <a:r>
              <a:t>RAPIDITÉ :</a:t>
            </a:r>
          </a:p>
          <a:p>
            <a:r>
              <a:t>L'extraction prend quelques secondes, même pour des fichiers volumineux.</a:t>
            </a:r>
          </a:p>
          <a:p>
            <a:endParaRPr/>
          </a:p>
          <a:p>
            <a:r>
              <a:t>[Passer au slide suivant]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DU PRÉSENTATEUR — SLIDE 8 : LES 3 MODES</a:t>
            </a:r>
          </a:p>
          <a:p>
            <a:endParaRPr/>
          </a:p>
          <a:p>
            <a:r>
              <a:t>L'application propose 3 modes d'utilisation :</a:t>
            </a:r>
          </a:p>
          <a:p>
            <a:endParaRPr/>
          </a:p>
          <a:p>
            <a:r>
              <a:t>MODE 1 — MESSAGES ENTRANTS :</a:t>
            </a:r>
          </a:p>
          <a:p>
            <a:r>
              <a:t>C'est le mode le plus couramment utilisé. Il traite les virements REÇUS — MT202 (interbancaires), MT103 (clients), MT910 (confirmations de crédit).</a:t>
            </a:r>
          </a:p>
          <a:p>
            <a:r>
              <a:t>Pour chaque message, on extrait le donneur d'ordre, le montant, la devise, la référence et le code BIC.</a:t>
            </a:r>
          </a:p>
          <a:p>
            <a:endParaRPr/>
          </a:p>
          <a:p>
            <a:r>
              <a:t>MODE 2 — MESSAGES SORTANTS :</a:t>
            </a:r>
          </a:p>
          <a:p>
            <a:r>
              <a:t>Pour les virements ÉMIS par la BEAC. Même principe, mais ici on extrait le bénéficiaire du virement.</a:t>
            </a:r>
          </a:p>
          <a:p>
            <a:endParaRPr/>
          </a:p>
          <a:p>
            <a:r>
              <a:t>MODE 3 — ANALYSE DES TRANSFERTS :</a:t>
            </a:r>
          </a:p>
          <a:p>
            <a:r>
              <a:t>C'est le mode le plus avancé. Il fait du rapprochement automatique : on lui donne d'un côté les fichiers MT900 (confirmations de débit), de l'autre les MT103 et MT202 (virements).</a:t>
            </a:r>
          </a:p>
          <a:p>
            <a:r>
              <a:t>L'application fait le matching entre les deux et identifie :</a:t>
            </a:r>
          </a:p>
          <a:p>
            <a:r>
              <a:t>- Les transferts exécutés (MT900 avec son virement correspondant)</a:t>
            </a:r>
          </a:p>
          <a:p>
            <a:r>
              <a:t>- Les MT900 non matchés (confirmation sans virement retrouvé)</a:t>
            </a:r>
          </a:p>
          <a:p>
            <a:r>
              <a:t>- Les suspens (virements sans confirmation MT900)</a:t>
            </a:r>
          </a:p>
          <a:p>
            <a:endParaRPr/>
          </a:p>
          <a:p>
            <a:r>
              <a:t>C'est ce qu'on faisait manuellement avant, en comparant ligne par ligne.</a:t>
            </a:r>
          </a:p>
          <a:p>
            <a:endParaRPr/>
          </a:p>
          <a:p>
            <a:r>
              <a:t>[Passer au slide suivant]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DU PRÉSENTATEUR — SLIDE 9 : BÉNÉFICES CONCRETS</a:t>
            </a:r>
          </a:p>
          <a:p>
            <a:endParaRPr/>
          </a:p>
          <a:p>
            <a:r>
              <a:t>Pour résumer les bénéfices :</a:t>
            </a:r>
          </a:p>
          <a:p>
            <a:endParaRPr/>
          </a:p>
          <a:p>
            <a:r>
              <a:t>GAIN DE TEMPS :</a:t>
            </a:r>
          </a:p>
          <a:p>
            <a:r>
              <a:t>Avant : 5 à 30 minutes par PDF, multipliées par des dizaines de fichiers chaque mois.</a:t>
            </a:r>
          </a:p>
          <a:p>
            <a:r>
              <a:t>Après : quelques secondes. Même pour un PDF de 200 pages contenant des centaines de messages.</a:t>
            </a:r>
          </a:p>
          <a:p>
            <a:endParaRPr/>
          </a:p>
          <a:p>
            <a:r>
              <a:t>ZÉRO ERREUR DE SAISIE :</a:t>
            </a:r>
          </a:p>
          <a:p>
            <a:r>
              <a:t>Il n'y a plus de saisie manuelle. L'application lit directement le PDF. Plus d'inversion de chiffres, plus de code BIC mal recopié.</a:t>
            </a:r>
          </a:p>
          <a:p>
            <a:endParaRPr/>
          </a:p>
          <a:p>
            <a:r>
              <a:t>CLASSEMENT AUTOMATIQUE :</a:t>
            </a:r>
          </a:p>
          <a:p>
            <a:r>
              <a:t>Le fichier Excel de sortie est déjà organisé : une feuille par pays, les doublons potentiels signalés, les exceptions identifiées.</a:t>
            </a:r>
          </a:p>
          <a:p>
            <a:endParaRPr/>
          </a:p>
          <a:p>
            <a:r>
              <a:t>RAPPROCHEMENT MT900 INSTANTANÉ :</a:t>
            </a:r>
          </a:p>
          <a:p>
            <a:r>
              <a:t>Ce qui prenait des heures à faire manuellement — comparer les confirmations de débit avec les virements — se fait automatiquement, avec détection des suspens.</a:t>
            </a:r>
          </a:p>
          <a:p>
            <a:endParaRPr/>
          </a:p>
          <a:p>
            <a:r>
              <a:t>Au final, c'est du temps gagné pour vous concentrer sur ce qui compte vraiment : l'analyse et le contrôle des opérations.</a:t>
            </a:r>
          </a:p>
          <a:p>
            <a:endParaRPr/>
          </a:p>
          <a:p>
            <a:r>
              <a:t>[Passer au dernier slide]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NOTES DU PRÉSENTATEUR — SLIDE 10 : CONCLUSION</a:t>
            </a:r>
          </a:p>
          <a:p>
            <a:endParaRPr dirty="0"/>
          </a:p>
          <a:p>
            <a:r>
              <a:rPr dirty="0" err="1"/>
              <a:t>Dites</a:t>
            </a:r>
            <a:r>
              <a:rPr dirty="0"/>
              <a:t> :</a:t>
            </a:r>
          </a:p>
          <a:p>
            <a:r>
              <a:rPr dirty="0"/>
              <a:t>« Merci pour </a:t>
            </a:r>
            <a:r>
              <a:rPr dirty="0" err="1"/>
              <a:t>votre</a:t>
            </a:r>
            <a:r>
              <a:rPr dirty="0"/>
              <a:t> attention. Pour </a:t>
            </a:r>
            <a:r>
              <a:rPr dirty="0" err="1"/>
              <a:t>résumer</a:t>
            </a:r>
            <a:r>
              <a:rPr dirty="0"/>
              <a:t> :</a:t>
            </a:r>
          </a:p>
          <a:p>
            <a:endParaRPr dirty="0"/>
          </a:p>
          <a:p>
            <a:r>
              <a:rPr dirty="0" err="1"/>
              <a:t>L'application</a:t>
            </a:r>
            <a:r>
              <a:rPr dirty="0"/>
              <a:t> </a:t>
            </a:r>
            <a:r>
              <a:rPr dirty="0" err="1"/>
              <a:t>extrait</a:t>
            </a:r>
            <a:r>
              <a:rPr dirty="0"/>
              <a:t> </a:t>
            </a:r>
            <a:r>
              <a:rPr dirty="0" err="1"/>
              <a:t>automatiquement</a:t>
            </a:r>
            <a:r>
              <a:rPr dirty="0"/>
              <a:t> les </a:t>
            </a:r>
            <a:r>
              <a:rPr dirty="0" err="1"/>
              <a:t>données</a:t>
            </a:r>
            <a:r>
              <a:rPr dirty="0"/>
              <a:t> des PDF SWIFT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quelques</a:t>
            </a:r>
            <a:r>
              <a:rPr dirty="0"/>
              <a:t> </a:t>
            </a:r>
            <a:r>
              <a:rPr dirty="0" err="1"/>
              <a:t>secondes</a:t>
            </a:r>
            <a:r>
              <a:rPr dirty="0"/>
              <a:t>.</a:t>
            </a:r>
          </a:p>
          <a:p>
            <a:r>
              <a:rPr dirty="0"/>
              <a:t>Elle </a:t>
            </a:r>
            <a:r>
              <a:rPr dirty="0" err="1"/>
              <a:t>supporte</a:t>
            </a:r>
            <a:r>
              <a:rPr dirty="0"/>
              <a:t> 3 modes — entrants, </a:t>
            </a:r>
            <a:r>
              <a:rPr dirty="0" err="1"/>
              <a:t>sortants</a:t>
            </a:r>
            <a:r>
              <a:rPr dirty="0"/>
              <a:t>, et </a:t>
            </a:r>
            <a:r>
              <a:rPr dirty="0" err="1"/>
              <a:t>analyse</a:t>
            </a:r>
            <a:r>
              <a:rPr dirty="0"/>
              <a:t> des </a:t>
            </a:r>
            <a:r>
              <a:rPr dirty="0" err="1"/>
              <a:t>transferts</a:t>
            </a:r>
            <a:r>
              <a:rPr dirty="0"/>
              <a:t>.</a:t>
            </a:r>
          </a:p>
          <a:p>
            <a:r>
              <a:rPr dirty="0"/>
              <a:t>Elle </a:t>
            </a:r>
            <a:r>
              <a:rPr dirty="0" err="1"/>
              <a:t>gère</a:t>
            </a:r>
            <a:r>
              <a:rPr dirty="0"/>
              <a:t> 4 types de messages : MT103, MT202, MT910 et MT900.</a:t>
            </a:r>
          </a:p>
          <a:p>
            <a:r>
              <a:rPr dirty="0"/>
              <a:t>Et surtout, </a:t>
            </a:r>
            <a:r>
              <a:rPr dirty="0" err="1"/>
              <a:t>elle</a:t>
            </a:r>
            <a:r>
              <a:rPr dirty="0"/>
              <a:t> </a:t>
            </a:r>
            <a:r>
              <a:rPr dirty="0" err="1"/>
              <a:t>vous</a:t>
            </a:r>
            <a:r>
              <a:rPr dirty="0"/>
              <a:t> fait </a:t>
            </a:r>
            <a:r>
              <a:rPr dirty="0" err="1"/>
              <a:t>gagner</a:t>
            </a:r>
            <a:r>
              <a:rPr dirty="0"/>
              <a:t> un temps </a:t>
            </a:r>
            <a:r>
              <a:rPr dirty="0" err="1"/>
              <a:t>considérable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supprimant</a:t>
            </a:r>
            <a:r>
              <a:rPr dirty="0"/>
              <a:t> </a:t>
            </a:r>
            <a:r>
              <a:rPr dirty="0" err="1"/>
              <a:t>toute</a:t>
            </a:r>
            <a:r>
              <a:rPr dirty="0"/>
              <a:t> </a:t>
            </a:r>
            <a:r>
              <a:rPr dirty="0" err="1"/>
              <a:t>saisie</a:t>
            </a:r>
            <a:r>
              <a:rPr dirty="0"/>
              <a:t> </a:t>
            </a:r>
            <a:r>
              <a:rPr dirty="0" err="1"/>
              <a:t>manuelle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Est-</a:t>
            </a:r>
            <a:r>
              <a:rPr dirty="0" err="1"/>
              <a:t>ce</a:t>
            </a:r>
            <a:r>
              <a:rPr dirty="0"/>
              <a:t> que </a:t>
            </a:r>
            <a:r>
              <a:rPr dirty="0" err="1"/>
              <a:t>vous</a:t>
            </a:r>
            <a:r>
              <a:rPr dirty="0"/>
              <a:t> </a:t>
            </a:r>
            <a:r>
              <a:rPr dirty="0" err="1"/>
              <a:t>avez</a:t>
            </a:r>
            <a:r>
              <a:rPr dirty="0"/>
              <a:t> des questions ? »</a:t>
            </a:r>
          </a:p>
          <a:p>
            <a:endParaRPr dirty="0"/>
          </a:p>
          <a:p>
            <a:r>
              <a:rPr dirty="0"/>
              <a:t>QUESTIONS FRÉQUENTES À ANTICIPER :</a:t>
            </a:r>
          </a:p>
          <a:p>
            <a:endParaRPr dirty="0"/>
          </a:p>
          <a:p>
            <a:r>
              <a:rPr dirty="0"/>
              <a:t>Q: « Est-</a:t>
            </a:r>
            <a:r>
              <a:rPr dirty="0" err="1"/>
              <a:t>ce</a:t>
            </a:r>
            <a:r>
              <a:rPr dirty="0"/>
              <a:t> que </a:t>
            </a:r>
            <a:r>
              <a:rPr dirty="0" err="1"/>
              <a:t>ça</a:t>
            </a:r>
            <a:r>
              <a:rPr dirty="0"/>
              <a:t> </a:t>
            </a:r>
            <a:r>
              <a:rPr dirty="0" err="1"/>
              <a:t>fonctionne</a:t>
            </a:r>
            <a:r>
              <a:rPr dirty="0"/>
              <a:t> avec </a:t>
            </a:r>
            <a:r>
              <a:rPr dirty="0" err="1"/>
              <a:t>tous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PDF ? »</a:t>
            </a:r>
          </a:p>
          <a:p>
            <a:r>
              <a:rPr dirty="0"/>
              <a:t>R: « </a:t>
            </a:r>
            <a:r>
              <a:rPr dirty="0" err="1"/>
              <a:t>Oui</a:t>
            </a:r>
            <a:r>
              <a:rPr dirty="0"/>
              <a:t>, </a:t>
            </a:r>
            <a:r>
              <a:rPr dirty="0" err="1"/>
              <a:t>l'application</a:t>
            </a:r>
            <a:r>
              <a:rPr dirty="0"/>
              <a:t> </a:t>
            </a:r>
            <a:r>
              <a:rPr dirty="0" err="1"/>
              <a:t>gère</a:t>
            </a:r>
            <a:r>
              <a:rPr dirty="0"/>
              <a:t> les PDF multi-messages, les </a:t>
            </a:r>
            <a:r>
              <a:rPr dirty="0" err="1"/>
              <a:t>différents</a:t>
            </a:r>
            <a:r>
              <a:rPr dirty="0"/>
              <a:t> formats de pages, et </a:t>
            </a:r>
            <a:r>
              <a:rPr dirty="0" err="1"/>
              <a:t>détecte</a:t>
            </a:r>
            <a:r>
              <a:rPr dirty="0"/>
              <a:t> </a:t>
            </a:r>
            <a:r>
              <a:rPr dirty="0" err="1"/>
              <a:t>automatiquement</a:t>
            </a:r>
            <a:r>
              <a:rPr dirty="0"/>
              <a:t> le type de message. Si un format pose </a:t>
            </a:r>
            <a:r>
              <a:rPr dirty="0" err="1"/>
              <a:t>problème</a:t>
            </a:r>
            <a:r>
              <a:rPr dirty="0"/>
              <a:t>, on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l'adapter</a:t>
            </a:r>
            <a:r>
              <a:rPr dirty="0"/>
              <a:t>. »</a:t>
            </a:r>
          </a:p>
          <a:p>
            <a:endParaRPr dirty="0"/>
          </a:p>
          <a:p>
            <a:r>
              <a:rPr dirty="0"/>
              <a:t>Q: « Et </a:t>
            </a:r>
            <a:r>
              <a:rPr dirty="0" err="1"/>
              <a:t>si</a:t>
            </a:r>
            <a:r>
              <a:rPr dirty="0"/>
              <a:t> un code BIC </a:t>
            </a:r>
            <a:r>
              <a:rPr dirty="0" err="1"/>
              <a:t>n'est</a:t>
            </a:r>
            <a:r>
              <a:rPr dirty="0"/>
              <a:t> pas </a:t>
            </a:r>
            <a:r>
              <a:rPr dirty="0" err="1"/>
              <a:t>reconnu</a:t>
            </a:r>
            <a:r>
              <a:rPr dirty="0"/>
              <a:t> ? »</a:t>
            </a:r>
          </a:p>
          <a:p>
            <a:r>
              <a:rPr dirty="0"/>
              <a:t>R: « </a:t>
            </a:r>
            <a:r>
              <a:rPr dirty="0" err="1"/>
              <a:t>Comme</a:t>
            </a:r>
            <a:r>
              <a:rPr dirty="0"/>
              <a:t> on </a:t>
            </a:r>
            <a:r>
              <a:rPr dirty="0" err="1"/>
              <a:t>l'a</a:t>
            </a:r>
            <a:r>
              <a:rPr dirty="0"/>
              <a:t> vu </a:t>
            </a:r>
            <a:r>
              <a:rPr dirty="0" err="1"/>
              <a:t>dans</a:t>
            </a:r>
            <a:r>
              <a:rPr dirty="0"/>
              <a:t> la </a:t>
            </a:r>
            <a:r>
              <a:rPr dirty="0" err="1"/>
              <a:t>démo</a:t>
            </a:r>
            <a:r>
              <a:rPr dirty="0"/>
              <a:t>, </a:t>
            </a:r>
            <a:r>
              <a:rPr dirty="0" err="1"/>
              <a:t>l'application</a:t>
            </a:r>
            <a:r>
              <a:rPr dirty="0"/>
              <a:t> </a:t>
            </a:r>
            <a:r>
              <a:rPr dirty="0" err="1"/>
              <a:t>signale</a:t>
            </a:r>
            <a:r>
              <a:rPr dirty="0"/>
              <a:t> les codes non </a:t>
            </a:r>
            <a:r>
              <a:rPr dirty="0" err="1"/>
              <a:t>trouvés</a:t>
            </a:r>
            <a:r>
              <a:rPr dirty="0"/>
              <a:t> et </a:t>
            </a:r>
            <a:r>
              <a:rPr dirty="0" err="1"/>
              <a:t>vous</a:t>
            </a:r>
            <a:r>
              <a:rPr dirty="0"/>
              <a:t> </a:t>
            </a:r>
            <a:r>
              <a:rPr dirty="0" err="1"/>
              <a:t>pouvez</a:t>
            </a:r>
            <a:r>
              <a:rPr dirty="0"/>
              <a:t> les </a:t>
            </a:r>
            <a:r>
              <a:rPr dirty="0" err="1"/>
              <a:t>ajouter</a:t>
            </a:r>
            <a:r>
              <a:rPr dirty="0"/>
              <a:t> </a:t>
            </a:r>
            <a:r>
              <a:rPr dirty="0" err="1"/>
              <a:t>directement</a:t>
            </a:r>
            <a:r>
              <a:rPr dirty="0"/>
              <a:t> </a:t>
            </a:r>
            <a:r>
              <a:rPr dirty="0" err="1"/>
              <a:t>depuis</a:t>
            </a:r>
            <a:r>
              <a:rPr dirty="0"/>
              <a:t> </a:t>
            </a:r>
            <a:r>
              <a:rPr dirty="0" err="1"/>
              <a:t>l'interface</a:t>
            </a:r>
            <a:r>
              <a:rPr dirty="0"/>
              <a:t>, sans intervention technique. »</a:t>
            </a:r>
          </a:p>
          <a:p>
            <a:endParaRPr dirty="0"/>
          </a:p>
          <a:p>
            <a:r>
              <a:rPr dirty="0"/>
              <a:t>Q: « Qui a </a:t>
            </a:r>
            <a:r>
              <a:rPr dirty="0" err="1"/>
              <a:t>accès</a:t>
            </a:r>
            <a:r>
              <a:rPr dirty="0"/>
              <a:t> à </a:t>
            </a:r>
            <a:r>
              <a:rPr dirty="0" err="1"/>
              <a:t>l'application</a:t>
            </a:r>
            <a:r>
              <a:rPr dirty="0"/>
              <a:t> ? »</a:t>
            </a:r>
          </a:p>
          <a:p>
            <a:r>
              <a:rPr dirty="0"/>
              <a:t>R: « Elle </a:t>
            </a:r>
            <a:r>
              <a:rPr dirty="0" err="1"/>
              <a:t>tourne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local sur </a:t>
            </a:r>
            <a:r>
              <a:rPr dirty="0" err="1"/>
              <a:t>votre</a:t>
            </a:r>
            <a:r>
              <a:rPr dirty="0"/>
              <a:t> poste </a:t>
            </a:r>
            <a:r>
              <a:rPr dirty="0" err="1"/>
              <a:t>ou</a:t>
            </a:r>
            <a:r>
              <a:rPr dirty="0"/>
              <a:t> sur un </a:t>
            </a:r>
            <a:r>
              <a:rPr dirty="0" err="1"/>
              <a:t>serveur</a:t>
            </a:r>
            <a:r>
              <a:rPr dirty="0"/>
              <a:t> interne. Les </a:t>
            </a:r>
            <a:r>
              <a:rPr dirty="0" err="1"/>
              <a:t>données</a:t>
            </a:r>
            <a:r>
              <a:rPr dirty="0"/>
              <a:t> ne </a:t>
            </a:r>
            <a:r>
              <a:rPr dirty="0" err="1"/>
              <a:t>sortent</a:t>
            </a:r>
            <a:r>
              <a:rPr dirty="0"/>
              <a:t> pas de la BEAC. »</a:t>
            </a:r>
          </a:p>
          <a:p>
            <a:endParaRPr dirty="0"/>
          </a:p>
          <a:p>
            <a:r>
              <a:rPr dirty="0"/>
              <a:t>Q: « </a:t>
            </a:r>
            <a:r>
              <a:rPr dirty="0" err="1"/>
              <a:t>Peut</a:t>
            </a:r>
            <a:r>
              <a:rPr dirty="0"/>
              <a:t>-on </a:t>
            </a:r>
            <a:r>
              <a:rPr dirty="0" err="1"/>
              <a:t>ajouter</a:t>
            </a:r>
            <a:r>
              <a:rPr dirty="0"/>
              <a:t> </a:t>
            </a:r>
            <a:r>
              <a:rPr dirty="0" err="1"/>
              <a:t>d'autres</a:t>
            </a:r>
            <a:r>
              <a:rPr dirty="0"/>
              <a:t> types de messages ? »</a:t>
            </a:r>
          </a:p>
          <a:p>
            <a:r>
              <a:rPr dirty="0"/>
              <a:t>R: « </a:t>
            </a:r>
            <a:r>
              <a:rPr dirty="0" err="1"/>
              <a:t>Oui</a:t>
            </a:r>
            <a:r>
              <a:rPr dirty="0"/>
              <a:t>, </a:t>
            </a:r>
            <a:r>
              <a:rPr dirty="0" err="1"/>
              <a:t>l'architecture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modulaire</a:t>
            </a:r>
            <a:r>
              <a:rPr dirty="0"/>
              <a:t>. On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ajouter</a:t>
            </a:r>
            <a:r>
              <a:rPr dirty="0"/>
              <a:t> le support </a:t>
            </a:r>
            <a:r>
              <a:rPr dirty="0" err="1"/>
              <a:t>d'autres</a:t>
            </a:r>
            <a:r>
              <a:rPr dirty="0"/>
              <a:t> types MT </a:t>
            </a:r>
            <a:r>
              <a:rPr dirty="0" err="1"/>
              <a:t>si</a:t>
            </a:r>
            <a:r>
              <a:rPr dirty="0"/>
              <a:t> le </a:t>
            </a:r>
            <a:r>
              <a:rPr dirty="0" err="1"/>
              <a:t>besoin</a:t>
            </a:r>
            <a:r>
              <a:rPr dirty="0"/>
              <a:t> se </a:t>
            </a:r>
            <a:r>
              <a:rPr dirty="0" err="1"/>
              <a:t>présente</a:t>
            </a:r>
            <a:r>
              <a:rPr dirty="0"/>
              <a:t>. »</a:t>
            </a:r>
          </a:p>
          <a:p>
            <a:endParaRPr dirty="0"/>
          </a:p>
          <a:p>
            <a:r>
              <a:rPr dirty="0"/>
              <a:t>Q: «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fiable</a:t>
            </a:r>
            <a:r>
              <a:rPr dirty="0"/>
              <a:t> ? On </a:t>
            </a:r>
            <a:r>
              <a:rPr dirty="0" err="1"/>
              <a:t>peut</a:t>
            </a:r>
            <a:r>
              <a:rPr dirty="0"/>
              <a:t> se </a:t>
            </a:r>
            <a:r>
              <a:rPr dirty="0" err="1"/>
              <a:t>fier</a:t>
            </a:r>
            <a:r>
              <a:rPr dirty="0"/>
              <a:t> aux </a:t>
            </a:r>
            <a:r>
              <a:rPr dirty="0" err="1"/>
              <a:t>résultats</a:t>
            </a:r>
            <a:r>
              <a:rPr dirty="0"/>
              <a:t> ? »</a:t>
            </a:r>
          </a:p>
          <a:p>
            <a:r>
              <a:rPr dirty="0"/>
              <a:t>R: « </a:t>
            </a:r>
            <a:r>
              <a:rPr dirty="0" err="1"/>
              <a:t>L'application</a:t>
            </a:r>
            <a:r>
              <a:rPr dirty="0"/>
              <a:t> a </a:t>
            </a:r>
            <a:r>
              <a:rPr dirty="0" err="1"/>
              <a:t>été</a:t>
            </a:r>
            <a:r>
              <a:rPr dirty="0"/>
              <a:t> </a:t>
            </a:r>
            <a:r>
              <a:rPr dirty="0" err="1"/>
              <a:t>testée</a:t>
            </a:r>
            <a:r>
              <a:rPr dirty="0"/>
              <a:t> sur </a:t>
            </a:r>
            <a:r>
              <a:rPr dirty="0" err="1"/>
              <a:t>vos</a:t>
            </a:r>
            <a:r>
              <a:rPr dirty="0"/>
              <a:t> </a:t>
            </a:r>
            <a:r>
              <a:rPr dirty="0" err="1"/>
              <a:t>fichiers</a:t>
            </a:r>
            <a:r>
              <a:rPr dirty="0"/>
              <a:t> </a:t>
            </a:r>
            <a:r>
              <a:rPr dirty="0" err="1"/>
              <a:t>réels</a:t>
            </a:r>
            <a:r>
              <a:rPr dirty="0"/>
              <a:t>. Elle </a:t>
            </a:r>
            <a:r>
              <a:rPr dirty="0" err="1"/>
              <a:t>détecte</a:t>
            </a:r>
            <a:r>
              <a:rPr dirty="0"/>
              <a:t> </a:t>
            </a:r>
            <a:r>
              <a:rPr dirty="0" err="1"/>
              <a:t>aussi</a:t>
            </a:r>
            <a:r>
              <a:rPr dirty="0"/>
              <a:t> les </a:t>
            </a:r>
            <a:r>
              <a:rPr dirty="0" err="1"/>
              <a:t>doublons</a:t>
            </a:r>
            <a:r>
              <a:rPr dirty="0"/>
              <a:t> </a:t>
            </a:r>
            <a:r>
              <a:rPr dirty="0" err="1"/>
              <a:t>potentiels</a:t>
            </a:r>
            <a:r>
              <a:rPr dirty="0"/>
              <a:t> et </a:t>
            </a:r>
            <a:r>
              <a:rPr dirty="0" err="1"/>
              <a:t>classe</a:t>
            </a:r>
            <a:r>
              <a:rPr dirty="0"/>
              <a:t> les </a:t>
            </a:r>
            <a:r>
              <a:rPr dirty="0" err="1"/>
              <a:t>cas</a:t>
            </a:r>
            <a:r>
              <a:rPr dirty="0"/>
              <a:t> </a:t>
            </a:r>
            <a:r>
              <a:rPr dirty="0" err="1"/>
              <a:t>particuliers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"exceptions" pour </a:t>
            </a:r>
            <a:r>
              <a:rPr dirty="0" err="1"/>
              <a:t>vérification</a:t>
            </a:r>
            <a:r>
              <a:rPr dirty="0"/>
              <a:t>. »</a:t>
            </a:r>
          </a:p>
          <a:p>
            <a:endParaRPr dirty="0"/>
          </a:p>
          <a:p>
            <a:r>
              <a:rPr dirty="0"/>
              <a:t>[FIN DE LA PRÉSENTATION]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651760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PDF SWIFT Extractor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6B6D4"/>
                </a:solidFill>
                <a:latin typeface="Segoe UI"/>
              </a:defRPr>
            </a:pPr>
            <a:r>
              <a:t>Automatisation de l'extraction des messages SWIFT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Direction des </a:t>
            </a:r>
            <a:r>
              <a:rPr lang="fr-FR" dirty="0" smtClean="0"/>
              <a:t>Opérations Financières</a:t>
            </a:r>
            <a:r>
              <a:rPr dirty="0" smtClean="0"/>
              <a:t>  </a:t>
            </a:r>
            <a:r>
              <a:rPr dirty="0"/>
              <a:t>•  BEAC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Février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669280"/>
            <a:ext cx="118872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MT103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5669280"/>
            <a:ext cx="1188720" cy="4114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MT202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5669280"/>
            <a:ext cx="118872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MT910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5669280"/>
            <a:ext cx="118872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MT900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1/10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3A"/>
                </a:solidFill>
                <a:latin typeface="Segoe UI"/>
              </a:defRPr>
            </a:pPr>
            <a: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55448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5361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Segoe UI"/>
              </a:defRPr>
            </a:pPr>
            <a:r>
              <a:t>Le problème résolu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8470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Pourquoi cet outil existe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600200"/>
            <a:ext cx="109728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 min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51460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963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Segoe UI"/>
              </a:defRPr>
            </a:pPr>
            <a:r>
              <a:t>Ce que fait l'application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807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Le flux en 3 étapes simples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560320"/>
            <a:ext cx="1097280" cy="4114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 min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4747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456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Segoe UI"/>
              </a:defRPr>
            </a:pPr>
            <a:r>
              <a:t>Démonstration en direct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7673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Voir l'outil en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3520440"/>
            <a:ext cx="10972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 min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44348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416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Segoe UI"/>
              </a:defRPr>
            </a:pPr>
            <a:r>
              <a:t>Les 3 modes disponibles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727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Entrants, Sortants, Analyse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4480560"/>
            <a:ext cx="10972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 min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539496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376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Segoe UI"/>
              </a:defRPr>
            </a:pPr>
            <a:r>
              <a:t>Ce que ça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687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Les bénéfices concrets pour vous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5440680"/>
            <a:ext cx="109728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2/10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1A3A6A"/>
                </a:solidFill>
                <a:latin typeface="Segoe UI Light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Le problème résolu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6B6D4"/>
                </a:solidFill>
                <a:latin typeface="Segoe UI"/>
              </a:defRPr>
            </a:pPr>
            <a:r>
              <a:t>Pourquoi avions-nous besoin de cet outil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5943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⏱ 2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3/10</a:t>
            </a:r>
          </a:p>
        </p:txBody>
      </p:sp>
    </p:spTree>
  </p:cSld>
  <p:clrMapOvr>
    <a:masterClrMapping/>
  </p:clrMapOvr>
  <p:transition spd="med">
    <p:cover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D3A"/>
                </a:solidFill>
                <a:latin typeface="Segoe UI"/>
              </a:defRPr>
            </a:pPr>
            <a:r>
              <a:t>Avant : un processus 100% manuel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56DB"/>
                </a:solidFill>
                <a:latin typeface="Segoe UI Semibold"/>
              </a:defRPr>
            </a:pPr>
            <a:r>
              <a:t>«  Chaque mois, des dizaines de PDF contenant des virements SWIFT.</a:t>
            </a:r>
            <a:br/>
            <a:r>
              <a:t>    Extraire les références, montants, banques… était une tâche manuelle fastidieuse. 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4747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34747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Segoe UI"/>
              </a:defRPr>
            </a:pPr>
            <a:r>
              <a:t>⏳  Temps considérable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Saisie ligne par ligne des données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Chaque PDF : 5 à 30 minutes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Des dizaines de fichiers par mois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Heures cumulées chaque semaine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743200"/>
            <a:ext cx="34747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59" y="2743200"/>
            <a:ext cx="3474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39" y="2880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Segoe UI"/>
              </a:defRPr>
            </a:pPr>
            <a:r>
              <a:t>⚠️  Risque d'erreurs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2461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Copier-coller depuis les PDF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Montants, références, codes BIC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Inversion de chiffres fréquente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Erreurs difficiles à détecter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743200"/>
            <a:ext cx="34747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2743200"/>
            <a:ext cx="347472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880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94A3B8"/>
                </a:solidFill>
                <a:latin typeface="Segoe UI"/>
              </a:defRPr>
            </a:pPr>
            <a:r>
              <a:t>📊  Travail non valorisé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461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Tâche répétitive sans valeur ajoutée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Temps non consacré à l'analyse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Pas de vision consolidée rapide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Retard dans les traitements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4/10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D3A"/>
                </a:solidFill>
                <a:latin typeface="Segoe UI"/>
              </a:defRPr>
            </a:pPr>
            <a:r>
              <a:t>Le flux en 3 étapes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De vos PDF bruts à un fichier Excel structuré, en quelques secondes.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2918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2918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920240" y="2286000"/>
            <a:ext cx="731520" cy="7315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A56DB"/>
                </a:solidFill>
                <a:latin typeface="Segoe UI"/>
              </a:defRPr>
            </a:pPr>
            <a:r>
              <a:t>📁  Déposer vos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Glissez-déposez un ou</a:t>
            </a:r>
            <a:br/>
            <a:r>
              <a:t>plusieurs fichiers PDF</a:t>
            </a:r>
            <a:br/>
            <a:r>
              <a:t>dans l'interface web.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212080"/>
            <a:ext cx="237744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Plusieurs fichiers</a:t>
            </a:r>
            <a:br/>
            <a:r>
              <a:t>en même temps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23360" y="3657600"/>
            <a:ext cx="457200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80560" y="2011680"/>
            <a:ext cx="32918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60" y="2011680"/>
            <a:ext cx="3291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760720" y="2286000"/>
            <a:ext cx="731520" cy="7315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6B6D4"/>
                </a:solidFill>
                <a:latin typeface="Segoe UI"/>
              </a:defRPr>
            </a:pPr>
            <a:r>
              <a:t>⚙️  Extraction automatique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7490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L'application lit, identifie</a:t>
            </a:r>
            <a:br/>
            <a:r>
              <a:t>et extrait les données</a:t>
            </a:r>
            <a:br/>
            <a:r>
              <a:t>de chaque message SWIFT.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5212080"/>
            <a:ext cx="237744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5257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MT103, MT202,</a:t>
            </a:r>
            <a:br/>
            <a:r>
              <a:t>MT910, MT900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63840" y="3657600"/>
            <a:ext cx="457200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2011680"/>
            <a:ext cx="32918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21040" y="201168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01200" y="228600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0B981"/>
                </a:solidFill>
                <a:latin typeface="Segoe UI"/>
              </a:defRPr>
            </a:pPr>
            <a:r>
              <a:t>📊  Résultat 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7490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Un fichier Excel multi-feuilles</a:t>
            </a:r>
            <a:br/>
            <a:r>
              <a:t>prêt à l'emploi, classé</a:t>
            </a:r>
            <a:br/>
            <a:r>
              <a:t>par pays et par type.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5212080"/>
            <a:ext cx="237744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0" y="5257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Téléchargement</a:t>
            </a:r>
            <a:br/>
            <a:r>
              <a:t>en 1 clic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5/10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1A3A6A"/>
                </a:solidFill>
                <a:latin typeface="Segoe UI Light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Démonstration en direct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6B6D4"/>
                </a:solidFill>
                <a:latin typeface="Segoe UI"/>
              </a:defRPr>
            </a:pPr>
            <a:r>
              <a:t>Voyons l'outil en action sur des données réelles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029200"/>
            <a:ext cx="320040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▶  Basculer vers le navigateur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5943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⏱ 4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6/10</a:t>
            </a:r>
          </a:p>
        </p:txBody>
      </p:sp>
    </p:spTree>
  </p:cSld>
  <p:clrMapOvr>
    <a:masterClrMapping/>
  </p:clrMapOvr>
  <p:transition spd="med">
    <p:cover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D3A"/>
                </a:solidFill>
                <a:latin typeface="Segoe UI"/>
              </a:defRPr>
            </a:pPr>
            <a:r>
              <a:t>Ce que vous venez de voir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" cy="21945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Segoe UI"/>
              </a:defRPr>
            </a:pPr>
            <a:r>
              <a:t>🖱️  Interface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Segoe UI"/>
              </a:defRPr>
            </a:pPr>
            <a:r>
              <a:t>Deux zones : sidebar + résultats.</a:t>
            </a:r>
            <a:br/>
            <a:r>
              <a:t>Pas de formation nécessaire.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63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63040"/>
            <a:ext cx="54864" cy="2194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691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📄  Multi-fichiers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1945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Segoe UI"/>
              </a:defRPr>
            </a:pPr>
            <a:r>
              <a:rPr dirty="0" err="1"/>
              <a:t>Déposez</a:t>
            </a:r>
            <a:r>
              <a:rPr dirty="0"/>
              <a:t> </a:t>
            </a:r>
            <a:r>
              <a:rPr dirty="0" err="1"/>
              <a:t>plusieurs</a:t>
            </a:r>
            <a:r>
              <a:rPr dirty="0"/>
              <a:t> PDF </a:t>
            </a:r>
            <a:r>
              <a:rPr dirty="0" err="1"/>
              <a:t>simultanément</a:t>
            </a:r>
            <a:r>
              <a:rPr dirty="0"/>
              <a:t>.</a:t>
            </a:r>
            <a:br>
              <a:rPr dirty="0"/>
            </a:br>
            <a:r>
              <a:rPr dirty="0" err="1"/>
              <a:t>Traitement</a:t>
            </a:r>
            <a:r>
              <a:rPr dirty="0"/>
              <a:t> par lot </a:t>
            </a:r>
            <a:r>
              <a:rPr dirty="0" err="1"/>
              <a:t>automatique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63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40" y="1463040"/>
            <a:ext cx="54864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691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🔍  Identification auto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945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Segoe UI"/>
              </a:defRPr>
            </a:pPr>
            <a:r>
              <a:t>L'application reconnaît MT103, MT202,</a:t>
            </a:r>
            <a:br/>
            <a:r>
              <a:t>MT910 et MT900 automatiquement.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23360"/>
            <a:ext cx="32918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023360"/>
            <a:ext cx="54864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251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🏦  Résolution BIC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54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Segoe UI"/>
              </a:defRPr>
            </a:pPr>
            <a:r>
              <a:rPr dirty="0"/>
              <a:t>Les codes BIC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convertis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noms</a:t>
            </a:r>
            <a:r>
              <a:rPr dirty="0"/>
              <a:t/>
            </a:r>
            <a:br>
              <a:rPr dirty="0"/>
            </a:br>
            <a:r>
              <a:rPr dirty="0"/>
              <a:t>de </a:t>
            </a:r>
            <a:r>
              <a:rPr dirty="0" err="1"/>
              <a:t>banques</a:t>
            </a:r>
            <a:r>
              <a:rPr dirty="0"/>
              <a:t> </a:t>
            </a:r>
            <a:r>
              <a:rPr dirty="0" err="1"/>
              <a:t>lisibles</a:t>
            </a:r>
            <a:r>
              <a:rPr dirty="0"/>
              <a:t>. </a:t>
            </a:r>
            <a:r>
              <a:rPr dirty="0" err="1"/>
              <a:t>Ajout</a:t>
            </a:r>
            <a:r>
              <a:rPr dirty="0"/>
              <a:t> facile.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023360"/>
            <a:ext cx="32918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54864" cy="21945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4251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Segoe UI"/>
              </a:defRPr>
            </a:pPr>
            <a:r>
              <a:rPr dirty="0"/>
              <a:t>📊  Excel multi-</a:t>
            </a:r>
            <a:r>
              <a:rPr dirty="0" err="1"/>
              <a:t>feuilles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4709160" y="4754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Segoe UI"/>
              </a:defRPr>
            </a:pPr>
            <a:r>
              <a:t>Données classées par pays (CMR, GAB,</a:t>
            </a:r>
            <a:br/>
            <a:r>
              <a:t>TCD, COG…). Prêt à exploiter.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4023360"/>
            <a:ext cx="32918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21040" y="4023360"/>
            <a:ext cx="54864" cy="2194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4251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⚡  Rapidité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754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Segoe UI"/>
              </a:defRPr>
            </a:pPr>
            <a:r>
              <a:rPr dirty="0" err="1"/>
              <a:t>Quelques</a:t>
            </a:r>
            <a:r>
              <a:rPr dirty="0"/>
              <a:t> </a:t>
            </a:r>
            <a:r>
              <a:rPr dirty="0" err="1"/>
              <a:t>secondes</a:t>
            </a:r>
            <a:r>
              <a:rPr dirty="0"/>
              <a:t> pour </a:t>
            </a:r>
            <a:r>
              <a:rPr dirty="0" err="1"/>
              <a:t>extraire</a:t>
            </a:r>
            <a:r>
              <a:rPr dirty="0"/>
              <a:t/>
            </a:r>
            <a:br>
              <a:rPr dirty="0"/>
            </a:br>
            <a:r>
              <a:rPr dirty="0"/>
              <a:t>des </a:t>
            </a:r>
            <a:r>
              <a:rPr dirty="0" err="1"/>
              <a:t>centaines</a:t>
            </a:r>
            <a:r>
              <a:rPr dirty="0"/>
              <a:t> de messages.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7/10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D3A"/>
                </a:solidFill>
                <a:latin typeface="Segoe UI"/>
              </a:defRPr>
            </a:pPr>
            <a:r>
              <a:t>Les 3 modes disponibles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2918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291840" cy="10972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📥  Messages Entrants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BEAFE"/>
                </a:solidFill>
                <a:latin typeface="Segoe UI"/>
              </a:defRPr>
            </a:pPr>
            <a:r>
              <a:t>MT202, MT103, MT910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Virements reçus par la BEAC.</a:t>
            </a:r>
            <a:br/>
            <a:r>
              <a:t>Extraction du donneur d'ordre,</a:t>
            </a:r>
            <a:br/>
            <a:r>
              <a:t>montant, référence, code BIC.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2918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80560" y="1645920"/>
            <a:ext cx="3291840" cy="10972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📤  Messages Sortants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BEAFE"/>
                </a:solidFill>
                <a:latin typeface="Segoe UI"/>
              </a:defRPr>
            </a:pPr>
            <a:r>
              <a:t>MT202, MT103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1089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Virements émis par la BEAC.</a:t>
            </a:r>
            <a:br/>
            <a:r>
              <a:t>Extraction du bénéficiaire,</a:t>
            </a:r>
            <a:br/>
            <a:r>
              <a:t>montant, devise, pays.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645920"/>
            <a:ext cx="32918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21040" y="1645920"/>
            <a:ext cx="3291840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🔄  Analyse Transferts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BEAFE"/>
                </a:solidFill>
                <a:latin typeface="Segoe UI"/>
              </a:defRPr>
            </a:pPr>
            <a:r>
              <a:t>MT900 ↔ MT202/MT103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1089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Rapprochement automatique :</a:t>
            </a:r>
            <a:br/>
            <a:r>
              <a:t>quelle confirmation MT900</a:t>
            </a:r>
            <a:br/>
            <a:r>
              <a:t>correspond à quel virement.</a:t>
            </a:r>
            <a:br/>
            <a:r>
              <a:t>Détection des suspens.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8/10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D3A"/>
                </a:solidFill>
                <a:latin typeface="Segoe UI"/>
              </a:defRPr>
            </a:pPr>
            <a:r>
              <a:t>Ce que ça change concrètement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57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F4444"/>
                </a:solidFill>
                <a:latin typeface="Segoe UI"/>
              </a:defRPr>
            </a:pPr>
            <a:r>
              <a:t>❌  AVANT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⏳  5 à 30 min par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✍️  Saisie manuelle des données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🔢  Erreurs de frappe fréquentes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023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📁  Pas de classement automatique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🔍  Rapprochement MT900 à la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120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😓  Travail fastidieux et répétitif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54480"/>
            <a:ext cx="502920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✅  APRÈS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⚡  Quelques secondes par fichier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🤖  Extraction 100% automatique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🎯  Zéro erreur de saisie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023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📊  Classement par pays automatique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🔗  Rapprochement MT900 instantané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120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😊  Plus de temps pour l'analyse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577840" y="3383280"/>
            <a:ext cx="1005840" cy="6400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9/10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651760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Segoe UI Light"/>
              </a:defRPr>
            </a:pPr>
            <a: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B6D4"/>
                </a:solidFill>
                <a:latin typeface="Segoe UI"/>
              </a:defRPr>
            </a:pPr>
            <a:r>
              <a:t>Des 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56D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modes</a:t>
            </a:r>
            <a:br/>
            <a:r>
              <a:t>d'extraction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572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types de messages</a:t>
            </a:r>
            <a:br/>
            <a:r>
              <a:t>SWIFT supportés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572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0B981"/>
                </a:solidFill>
                <a:latin typeface="Segoe UI"/>
              </a:defRPr>
            </a:pPr>
            <a:r>
              <a:rPr dirty="0" smtClean="0"/>
              <a:t>~</a:t>
            </a:r>
            <a:r>
              <a:rPr lang="fr-FR" dirty="0" smtClean="0"/>
              <a:t>10</a:t>
            </a:r>
            <a:r>
              <a:rPr dirty="0" smtClean="0"/>
              <a:t>s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7724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par fichier PDF</a:t>
            </a:r>
            <a:br/>
            <a:r>
              <a:t>au lieu de 30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PDF SWIFT Extractor  •  BEAC  •  Février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10/10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2361</Words>
  <Application>Microsoft Office PowerPoint</Application>
  <PresentationFormat>Widescreen</PresentationFormat>
  <Paragraphs>317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Segoe UI</vt:lpstr>
      <vt:lpstr>Segoe UI Light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2026-02-19T09:39:33Z</dcterms:modified>
  <cp:category/>
</cp:coreProperties>
</file>